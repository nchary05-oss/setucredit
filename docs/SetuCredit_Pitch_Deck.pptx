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27"/>
                </a:solidFill>
              </a:defRPr>
            </a:pPr>
            <a:r>
              <a:t>SetuCredit: Democratizing Rural Credit via India's ULI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28E2B"/>
                </a:solidFill>
              </a:defRPr>
            </a:pPr>
            <a:r>
              <a:t>Voice-guided, consent-first alternative credit passports unlocking instant micro-loans for Bharat's next 500 million.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Team: SetuCredit Core Team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Track: Financial Inclusion &amp; Digital Public Infrastructure (DPI)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Vision: Unlocking frictionless credit data trust just as UPI unlocked digital payments.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27"/>
                </a:solidFill>
              </a:defRPr>
            </a:pPr>
            <a:r>
              <a:t>The Ground Reality: Bharat's Credit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28E2B"/>
                </a:solidFill>
              </a:defRPr>
            </a:pPr>
            <a:r>
              <a:t>The 'Data-Rich, Credit-Poor' Paradox in Tier 3/4 India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400M+ individuals &amp; 63M MSMEs are excluded from formal credit systems.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Traditional underwriting relies strictly on CIBIL, ITRs, and salary slips.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Valuable non-financial data (land patta, electricity bills, dairy yields) sits in isolated silos.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Manual bank origination CAC (&gt; ₹3,000) makes micro-loans unprofitable.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Borrowers end up trapped in predatory informal debt paying 36%–60% APR.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27"/>
                </a:solidFill>
              </a:defRPr>
            </a:pPr>
            <a:r>
              <a:t>The Solution: SetuCredit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28E2B"/>
                </a:solidFill>
              </a:defRPr>
            </a:pPr>
            <a:r>
              <a:t>A Consent-Driven Alternative Underwriting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Vernacular &amp; Voice-First: Onboarding via Bhashini AI in regional languages (Hindi, Telugu, etc.).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DPI-Powered Ingestion: Seamless retrieval via RBI ULI &amp; Account Aggregator.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Verified Signals: Dharani/Bhulekh land records, DISCOM utility discipline, Mandi/Dairy receipts.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Real-Time Scoring: Instant computation of 'Borrower Readiness Index' (0–100).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Zero-Touch Disbursal: Automated lender underwriting and instant fund credit via UPI/IMPS.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27"/>
                </a:solidFill>
              </a:defRPr>
            </a:pPr>
            <a:r>
              <a:t>The Technical Secret Sauce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28E2B"/>
                </a:solidFill>
              </a:defRPr>
            </a:pPr>
            <a:r>
              <a:t>How the Ecosystem Connects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Identity &amp; Verification: Aadhaar e-KYC &amp; DigiLocker.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Vernacular Layer: Bhashini Speech-to-Text &amp; Text-to-Speech API.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Core Data Rails: RBI Unified Lending Interface (ULI) + Sahamati Account Aggregator.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Underwriting Engine: Python / Scikit-Learn risk classification microservice.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Execution: Instant webhook notifications to NBFC core banking systems.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27"/>
                </a:solidFill>
              </a:defRPr>
            </a:pPr>
            <a:r>
              <a:t>Unit Economics &amp; Commercial Viability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28E2B"/>
                </a:solidFill>
              </a:defRPr>
            </a:pPr>
            <a:r>
              <a:t>Turning Low-Ticket Lending into a High-Margin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Origination Cost (CAC): Slashed from ₹3,000+ down to &lt; ₹50 per approved loan.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Turnaround Time: Reduced from 3–4 weeks to under 2 minutes.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Borrower Interest Burden: Sinks from 36%+ informal rates to 11%–14% formal bank APR.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B2B2C Revenue Model: 0.75% to 1.5% origination fee charged to lenders (free for borrowers).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2027"/>
                </a:solidFill>
              </a:defRPr>
            </a:pPr>
            <a:r>
              <a:t>Target Market &amp; Scaled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28E2B"/>
                </a:solidFill>
              </a:defRPr>
            </a:pPr>
            <a:r>
              <a:t>Empowering Rural Supply Chains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Addressable Segment: 140M smallholder farmers &amp; 63M micro-enterprises.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Timely Liquidity: Seasonal fertilizer procurement &amp; micro-inventory turnover.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Formal Identity Creation: Builds an auditable track record for future long-term credit.</a:t>
            </a:r>
          </a:p>
          <a:p>
            <a:pPr>
              <a:spcAft>
                <a:spcPts val="1400"/>
              </a:spcAft>
              <a:defRPr sz="1700">
                <a:solidFill>
                  <a:srgbClr val="282828"/>
                </a:solidFill>
              </a:defRPr>
            </a:pPr>
            <a:r>
              <a:t>•  Next Steps: Complete sandbox validation, partner with 1 pilot NBFC, expand regional dialect models.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